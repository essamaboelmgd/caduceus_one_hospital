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8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9F85-E3CE-404B-B949-F55F30B687CB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46751-C80D-4236-BB1D-C39B85E5B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25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9F85-E3CE-404B-B949-F55F30B687CB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46751-C80D-4236-BB1D-C39B85E5B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9F85-E3CE-404B-B949-F55F30B687CB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46751-C80D-4236-BB1D-C39B85E5B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81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9F85-E3CE-404B-B949-F55F30B687CB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46751-C80D-4236-BB1D-C39B85E5B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72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9F85-E3CE-404B-B949-F55F30B687CB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46751-C80D-4236-BB1D-C39B85E5B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52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9F85-E3CE-404B-B949-F55F30B687CB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46751-C80D-4236-BB1D-C39B85E5B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319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9F85-E3CE-404B-B949-F55F30B687CB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46751-C80D-4236-BB1D-C39B85E5B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62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9F85-E3CE-404B-B949-F55F30B687CB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46751-C80D-4236-BB1D-C39B85E5B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635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9F85-E3CE-404B-B949-F55F30B687CB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46751-C80D-4236-BB1D-C39B85E5B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02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9F85-E3CE-404B-B949-F55F30B687CB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46751-C80D-4236-BB1D-C39B85E5B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95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9F85-E3CE-404B-B949-F55F30B687CB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46751-C80D-4236-BB1D-C39B85E5B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60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9F85-E3CE-404B-B949-F55F30B687CB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46751-C80D-4236-BB1D-C39B85E5B44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2167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9F85-E3CE-404B-B949-F55F30B687CB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46751-C80D-4236-BB1D-C39B85E5B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83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9F85-E3CE-404B-B949-F55F30B687CB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46751-C80D-4236-BB1D-C39B85E5B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50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9F85-E3CE-404B-B949-F55F30B687CB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46751-C80D-4236-BB1D-C39B85E5B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40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9F85-E3CE-404B-B949-F55F30B687CB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46751-C80D-4236-BB1D-C39B85E5B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41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9F85-E3CE-404B-B949-F55F30B687CB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46751-C80D-4236-BB1D-C39B85E5B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35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9249F85-E3CE-404B-B949-F55F30B687CB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ED46751-C80D-4236-BB1D-C39B85E5B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081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EB842-6B1C-5347-437D-4AFCA2D0B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1206" y="1380069"/>
            <a:ext cx="7981627" cy="1388534"/>
          </a:xfrm>
        </p:spPr>
        <p:txBody>
          <a:bodyPr>
            <a:normAutofit/>
          </a:bodyPr>
          <a:lstStyle/>
          <a:p>
            <a:r>
              <a:rPr lang="en-US" b="1" dirty="0"/>
              <a:t> caduceus-one-hospital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5328E-F220-AD27-16BB-D8A7B0308B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6393" y="3886200"/>
            <a:ext cx="9464595" cy="2716078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sz="4500" b="1" dirty="0"/>
              <a:t>Group member </a:t>
            </a:r>
            <a:br>
              <a:rPr lang="en-US" sz="3800" dirty="0"/>
            </a:br>
            <a:r>
              <a:rPr lang="en-US" sz="3800" dirty="0"/>
              <a:t> Belal emad</a:t>
            </a:r>
            <a:br>
              <a:rPr lang="en-US" sz="3800" dirty="0"/>
            </a:br>
            <a:r>
              <a:rPr lang="en-US" sz="3800" dirty="0"/>
              <a:t>   </a:t>
            </a:r>
            <a:r>
              <a:rPr lang="en-US" sz="3800" dirty="0" err="1"/>
              <a:t>ESSam</a:t>
            </a:r>
            <a:r>
              <a:rPr lang="en-US" sz="3800" dirty="0"/>
              <a:t> abo </a:t>
            </a:r>
            <a:r>
              <a:rPr lang="en-US" sz="3800" dirty="0" err="1"/>
              <a:t>elmgd</a:t>
            </a:r>
            <a:br>
              <a:rPr lang="en-US" sz="3800" dirty="0"/>
            </a:br>
            <a:r>
              <a:rPr lang="en-US" sz="3800" dirty="0"/>
              <a:t>         Mostafa mohamed </a:t>
            </a:r>
            <a:br>
              <a:rPr lang="en-US" sz="3800" dirty="0"/>
            </a:br>
            <a:r>
              <a:rPr lang="en-US" sz="3800" dirty="0"/>
              <a:t>           Bakr   </a:t>
            </a:r>
            <a:r>
              <a:rPr lang="en-US" sz="3800" dirty="0" err="1"/>
              <a:t>ahmed</a:t>
            </a:r>
            <a:br>
              <a:rPr lang="en-US" sz="3800" dirty="0"/>
            </a:br>
            <a:br>
              <a:rPr lang="en-US" sz="3800" dirty="0"/>
            </a:b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1316730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72650-389D-19FD-3D37-280FF31F4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-analysis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4B0FE-C15E-9497-89FA-58350CE3A8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447" y="1844298"/>
            <a:ext cx="10797153" cy="3946901"/>
          </a:xfrm>
        </p:spPr>
        <p:txBody>
          <a:bodyPr/>
          <a:lstStyle/>
          <a:p>
            <a:r>
              <a:rPr lang="en-US" dirty="0"/>
              <a:t> 9/30/2025 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10/20/2025                                                           deadline by </a:t>
            </a:r>
            <a:r>
              <a:rPr lang="en-US" dirty="0" err="1"/>
              <a:t>depi</a:t>
            </a:r>
            <a:r>
              <a:rPr lang="en-US" dirty="0"/>
              <a:t> </a:t>
            </a:r>
            <a:r>
              <a:rPr lang="en-US" dirty="0" err="1"/>
              <a:t>instractors</a:t>
            </a:r>
            <a:r>
              <a:rPr lang="en-US" dirty="0"/>
              <a:t>   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172202-C83B-924D-0891-98D61086D123}"/>
              </a:ext>
            </a:extLst>
          </p:cNvPr>
          <p:cNvSpPr/>
          <p:nvPr/>
        </p:nvSpPr>
        <p:spPr>
          <a:xfrm>
            <a:off x="1683427" y="2350752"/>
            <a:ext cx="4195596" cy="91596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Cleaning data 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modelling &amp; load data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choose a suitable design for report</a:t>
            </a:r>
          </a:p>
        </p:txBody>
      </p:sp>
      <p:pic>
        <p:nvPicPr>
          <p:cNvPr id="6" name="Graphic 5" descr="Bullseye">
            <a:extLst>
              <a:ext uri="{FF2B5EF4-FFF2-40B4-BE49-F238E27FC236}">
                <a16:creationId xmlns:a16="http://schemas.microsoft.com/office/drawing/2014/main" id="{FE45361D-1BE6-3A9A-53B1-699322DBC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4366" y="2350752"/>
            <a:ext cx="468675" cy="46867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82BD8A-5C62-86B8-F12F-AD32D8632D30}"/>
              </a:ext>
            </a:extLst>
          </p:cNvPr>
          <p:cNvSpPr/>
          <p:nvPr/>
        </p:nvSpPr>
        <p:spPr>
          <a:xfrm>
            <a:off x="1683427" y="4070975"/>
            <a:ext cx="4195596" cy="91596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Feed back of all group member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continue analysis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kpis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E048D2-DB28-96EE-BD1D-7C393DC8C0C0}"/>
              </a:ext>
            </a:extLst>
          </p:cNvPr>
          <p:cNvSpPr/>
          <p:nvPr/>
        </p:nvSpPr>
        <p:spPr>
          <a:xfrm>
            <a:off x="6912666" y="3817748"/>
            <a:ext cx="4195596" cy="91596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09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63B72-0DD8-AC17-0226-58038EDE8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91" y="-204329"/>
            <a:ext cx="10364451" cy="914400"/>
          </a:xfrm>
        </p:spPr>
        <p:txBody>
          <a:bodyPr/>
          <a:lstStyle/>
          <a:p>
            <a:r>
              <a:rPr lang="en-US" dirty="0"/>
              <a:t>Work </a:t>
            </a:r>
            <a:r>
              <a:rPr lang="en-US" dirty="0" err="1"/>
              <a:t>Distribuition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18C93-0DE5-BC08-565D-D54444D3C2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6291" y="894738"/>
            <a:ext cx="4818432" cy="278252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Belal </a:t>
            </a:r>
            <a:r>
              <a:rPr lang="en-US" dirty="0" err="1"/>
              <a:t>emad</a:t>
            </a:r>
            <a:br>
              <a:rPr lang="en-US" dirty="0"/>
            </a:br>
            <a:r>
              <a:rPr lang="en-US" b="1" dirty="0"/>
              <a:t>Belal Emad: Project Manager &amp; Data Coordinator</a:t>
            </a:r>
            <a:endParaRPr lang="en-US" dirty="0"/>
          </a:p>
          <a:p>
            <a:pPr lvl="1"/>
            <a:r>
              <a:rPr lang="en-US" dirty="0"/>
              <a:t>Define final project scope and objectives</a:t>
            </a:r>
          </a:p>
          <a:p>
            <a:pPr lvl="1"/>
            <a:r>
              <a:rPr lang="en-US" dirty="0"/>
              <a:t>Create a master list of all data sources (17+ tables from HMS)</a:t>
            </a:r>
          </a:p>
          <a:p>
            <a:pPr lvl="1"/>
            <a:r>
              <a:rPr lang="en-US" dirty="0"/>
              <a:t>Coordinate data extraction from different sources</a:t>
            </a:r>
          </a:p>
          <a:p>
            <a:pPr lvl="1"/>
            <a:r>
              <a:rPr lang="en-US" dirty="0"/>
              <a:t>Set up project timeline and milestones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7491CE-FF60-C355-55E0-D5414A75C4B8}"/>
              </a:ext>
            </a:extLst>
          </p:cNvPr>
          <p:cNvSpPr txBox="1"/>
          <p:nvPr/>
        </p:nvSpPr>
        <p:spPr>
          <a:xfrm>
            <a:off x="3686784" y="525405"/>
            <a:ext cx="481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Phase 1: Project Setup &amp; Data Gathering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B252B01-7BC5-0AAA-7985-B9C13A07D32E}"/>
              </a:ext>
            </a:extLst>
          </p:cNvPr>
          <p:cNvSpPr txBox="1">
            <a:spLocks/>
          </p:cNvSpPr>
          <p:nvPr/>
        </p:nvSpPr>
        <p:spPr>
          <a:xfrm>
            <a:off x="6385427" y="894736"/>
            <a:ext cx="4818432" cy="2782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ESSam</a:t>
            </a:r>
            <a:r>
              <a:rPr lang="en-US" b="1" dirty="0"/>
              <a:t> Abo </a:t>
            </a:r>
            <a:r>
              <a:rPr lang="en-US" b="1" dirty="0" err="1"/>
              <a:t>elmgd</a:t>
            </a:r>
            <a:r>
              <a:rPr lang="en-US" b="1" dirty="0"/>
              <a:t>: Technical Lead</a:t>
            </a:r>
            <a:endParaRPr lang="en-US" dirty="0"/>
          </a:p>
          <a:p>
            <a:pPr lvl="1"/>
            <a:r>
              <a:rPr lang="en-US" dirty="0"/>
              <a:t>Assess data quality and completeness</a:t>
            </a:r>
          </a:p>
          <a:p>
            <a:pPr lvl="1"/>
            <a:r>
              <a:rPr lang="en-US" dirty="0"/>
              <a:t>Identify potential data integration challenges</a:t>
            </a:r>
          </a:p>
          <a:p>
            <a:pPr lvl="1"/>
            <a:r>
              <a:rPr lang="en-US" dirty="0"/>
              <a:t>Set up the Power BI project structure</a:t>
            </a:r>
          </a:p>
          <a:p>
            <a:pPr lvl="1"/>
            <a:r>
              <a:rPr lang="en-US" dirty="0"/>
              <a:t>Create the initial data model skeleton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FBF84B2-AB0D-921E-6E8A-B827B39A073E}"/>
              </a:ext>
            </a:extLst>
          </p:cNvPr>
          <p:cNvSpPr txBox="1">
            <a:spLocks/>
          </p:cNvSpPr>
          <p:nvPr/>
        </p:nvSpPr>
        <p:spPr>
          <a:xfrm>
            <a:off x="988142" y="3780503"/>
            <a:ext cx="4818432" cy="307749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Bakr </a:t>
            </a:r>
            <a:r>
              <a:rPr lang="en-US" b="1" dirty="0" err="1"/>
              <a:t>ahmed</a:t>
            </a:r>
            <a:r>
              <a:rPr lang="en-US" b="1" dirty="0"/>
              <a:t>: Data Analyst</a:t>
            </a:r>
            <a:endParaRPr lang="en-US" dirty="0"/>
          </a:p>
          <a:p>
            <a:pPr lvl="1"/>
            <a:r>
              <a:rPr lang="en-US" dirty="0"/>
              <a:t>Gather requirements for KPIs and visualizations</a:t>
            </a:r>
          </a:p>
          <a:p>
            <a:pPr lvl="1"/>
            <a:r>
              <a:rPr lang="en-US" dirty="0"/>
              <a:t>Document business questions for each department</a:t>
            </a:r>
          </a:p>
          <a:p>
            <a:pPr lvl="1"/>
            <a:r>
              <a:rPr lang="en-US" dirty="0"/>
              <a:t>Identify key metrics and calculation logic</a:t>
            </a:r>
          </a:p>
          <a:p>
            <a:pPr lvl="1"/>
            <a:r>
              <a:rPr lang="en-US" dirty="0"/>
              <a:t>Create a mockup of desired dashboard layout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16F8E66-C16B-4B84-BFBC-42F57CB06B2C}"/>
              </a:ext>
            </a:extLst>
          </p:cNvPr>
          <p:cNvSpPr txBox="1">
            <a:spLocks/>
          </p:cNvSpPr>
          <p:nvPr/>
        </p:nvSpPr>
        <p:spPr>
          <a:xfrm>
            <a:off x="6548284" y="3780503"/>
            <a:ext cx="4818432" cy="307749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Mostafa </a:t>
            </a:r>
            <a:r>
              <a:rPr lang="en-US" b="1" dirty="0" err="1"/>
              <a:t>moahmed</a:t>
            </a:r>
            <a:r>
              <a:rPr lang="en-US" b="1" dirty="0"/>
              <a:t>: Quality Assurance</a:t>
            </a:r>
            <a:endParaRPr lang="en-US" dirty="0"/>
          </a:p>
          <a:p>
            <a:pPr lvl="1"/>
            <a:r>
              <a:rPr lang="en-US" dirty="0"/>
              <a:t>Verify data accessibility and permissions</a:t>
            </a:r>
          </a:p>
          <a:p>
            <a:pPr lvl="1"/>
            <a:r>
              <a:rPr lang="en-US" dirty="0"/>
              <a:t>Create data validation checklist</a:t>
            </a:r>
          </a:p>
          <a:p>
            <a:pPr lvl="1"/>
            <a:r>
              <a:rPr lang="en-US" dirty="0"/>
              <a:t>Document potential data quality issues</a:t>
            </a:r>
          </a:p>
          <a:p>
            <a:pPr lvl="1"/>
            <a:r>
              <a:rPr lang="en-US" dirty="0"/>
              <a:t>Set up testing scenarios for later phases</a:t>
            </a:r>
          </a:p>
        </p:txBody>
      </p:sp>
    </p:spTree>
    <p:extLst>
      <p:ext uri="{BB962C8B-B14F-4D97-AF65-F5344CB8AC3E}">
        <p14:creationId xmlns:p14="http://schemas.microsoft.com/office/powerpoint/2010/main" val="987654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55049-D7EA-9EC6-D9B2-AE166FB8F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0171B-D990-23B1-81F6-3DD1C0854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91" y="-204329"/>
            <a:ext cx="10364451" cy="914400"/>
          </a:xfrm>
        </p:spPr>
        <p:txBody>
          <a:bodyPr/>
          <a:lstStyle/>
          <a:p>
            <a:r>
              <a:rPr lang="en-US" dirty="0"/>
              <a:t>Work </a:t>
            </a:r>
            <a:r>
              <a:rPr lang="en-US" dirty="0" err="1"/>
              <a:t>Distribuition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CD1624-4A82-FB39-A95E-73E03581B61B}"/>
              </a:ext>
            </a:extLst>
          </p:cNvPr>
          <p:cNvSpPr txBox="1"/>
          <p:nvPr/>
        </p:nvSpPr>
        <p:spPr>
          <a:xfrm>
            <a:off x="3775274" y="525405"/>
            <a:ext cx="3943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Phase 2: Data Cleaning &amp; Preparation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095B2A-A096-6F49-58F1-21890B1D935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111045"/>
            <a:ext cx="4690613" cy="231795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Belal Emad: Data Quality Lead</a:t>
            </a:r>
            <a:endParaRPr lang="en-US" dirty="0"/>
          </a:p>
          <a:p>
            <a:r>
              <a:rPr lang="en-US" dirty="0"/>
              <a:t>Standardize date formats across all tables</a:t>
            </a:r>
          </a:p>
          <a:p>
            <a:r>
              <a:rPr lang="en-US" dirty="0"/>
              <a:t>Clean patient and doctor names (remove duplicates, standardize formats)</a:t>
            </a:r>
          </a:p>
          <a:p>
            <a:r>
              <a:rPr lang="en-US" dirty="0"/>
              <a:t>Handle missing values in critical fields (appointment status, fees, etc.)</a:t>
            </a:r>
          </a:p>
          <a:p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F9FB08E8-8C19-EA49-ECB3-7A87A063C527}"/>
              </a:ext>
            </a:extLst>
          </p:cNvPr>
          <p:cNvSpPr txBox="1">
            <a:spLocks/>
          </p:cNvSpPr>
          <p:nvPr/>
        </p:nvSpPr>
        <p:spPr>
          <a:xfrm>
            <a:off x="7034980" y="3797708"/>
            <a:ext cx="4690613" cy="2317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Bakr Ahmed: Testing &amp; Documentation</a:t>
            </a:r>
            <a:endParaRPr lang="en-US" dirty="0"/>
          </a:p>
          <a:p>
            <a:pPr lvl="1"/>
            <a:r>
              <a:rPr lang="en-US" dirty="0"/>
              <a:t>Test data cleaning scripts and procedures</a:t>
            </a:r>
          </a:p>
          <a:p>
            <a:pPr lvl="1"/>
            <a:r>
              <a:rPr lang="en-US" dirty="0"/>
              <a:t>Validate data relationships and integrity</a:t>
            </a:r>
          </a:p>
          <a:p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DABB8427-6292-922A-3CE3-6C75CD3833CA}"/>
              </a:ext>
            </a:extLst>
          </p:cNvPr>
          <p:cNvSpPr txBox="1">
            <a:spLocks/>
          </p:cNvSpPr>
          <p:nvPr/>
        </p:nvSpPr>
        <p:spPr>
          <a:xfrm>
            <a:off x="913773" y="4014639"/>
            <a:ext cx="4690613" cy="2317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Mostafa Mohamed: Data Validation Analyst</a:t>
            </a:r>
            <a:endParaRPr lang="en-US" dirty="0"/>
          </a:p>
          <a:p>
            <a:pPr lvl="1"/>
            <a:r>
              <a:rPr lang="en-US" dirty="0"/>
              <a:t>Validate cleaned data against source systems</a:t>
            </a:r>
          </a:p>
          <a:p>
            <a:pPr lvl="1"/>
            <a:r>
              <a:rPr lang="en-US" dirty="0"/>
              <a:t>Check for consistency across related tables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A5C8A186-49FE-C566-6E83-6DF4AF965136}"/>
              </a:ext>
            </a:extLst>
          </p:cNvPr>
          <p:cNvSpPr txBox="1">
            <a:spLocks/>
          </p:cNvSpPr>
          <p:nvPr/>
        </p:nvSpPr>
        <p:spPr>
          <a:xfrm>
            <a:off x="7034980" y="1111045"/>
            <a:ext cx="4852220" cy="1465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ESSam</a:t>
            </a:r>
            <a:r>
              <a:rPr lang="en-US" b="1" dirty="0"/>
              <a:t> Abo </a:t>
            </a:r>
            <a:r>
              <a:rPr lang="en-US" b="1" dirty="0" err="1"/>
              <a:t>elmgd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Handle data type conversions and formatting</a:t>
            </a:r>
          </a:p>
        </p:txBody>
      </p:sp>
    </p:spTree>
    <p:extLst>
      <p:ext uri="{BB962C8B-B14F-4D97-AF65-F5344CB8AC3E}">
        <p14:creationId xmlns:p14="http://schemas.microsoft.com/office/powerpoint/2010/main" val="2147870726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44</TotalTime>
  <Words>292</Words>
  <Application>Microsoft Office PowerPoint</Application>
  <PresentationFormat>Widescreen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Tw Cen MT</vt:lpstr>
      <vt:lpstr>Droplet</vt:lpstr>
      <vt:lpstr> caduceus-one-hospital</vt:lpstr>
      <vt:lpstr>Timeline -analysis</vt:lpstr>
      <vt:lpstr>Work Distribuition</vt:lpstr>
      <vt:lpstr>Work Distribuition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belal emad mohamed fekry</dc:creator>
  <cp:lastModifiedBy>Essam Abo Elmgd</cp:lastModifiedBy>
  <cp:revision>3</cp:revision>
  <dcterms:created xsi:type="dcterms:W3CDTF">2025-09-24T18:13:30Z</dcterms:created>
  <dcterms:modified xsi:type="dcterms:W3CDTF">2025-09-25T13:40:46Z</dcterms:modified>
</cp:coreProperties>
</file>