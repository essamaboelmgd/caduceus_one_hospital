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62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25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92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581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9720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4523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3196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0623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6356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802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87957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1604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821677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0835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65022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524012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12411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835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9249F85-E3CE-404B-B949-F55F30B687CB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CED46751-C80D-4236-BB1D-C39B85E5B44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1081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76" r:id="rId14"/>
    <p:sldLayoutId id="2147483777" r:id="rId15"/>
    <p:sldLayoutId id="2147483778" r:id="rId16"/>
    <p:sldLayoutId id="2147483779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EB842-6B1C-5347-437D-4AFCA2D0B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81206" y="1380069"/>
            <a:ext cx="7981627" cy="1388534"/>
          </a:xfrm>
        </p:spPr>
        <p:txBody>
          <a:bodyPr>
            <a:normAutofit/>
          </a:bodyPr>
          <a:lstStyle/>
          <a:p>
            <a:r>
              <a:rPr lang="en-US" b="1" dirty="0"/>
              <a:t> caduceus-one-hospital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C5328E-F220-AD27-16BB-D8A7B0308B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76393" y="3886200"/>
            <a:ext cx="9464595" cy="2716078"/>
          </a:xfrm>
        </p:spPr>
        <p:txBody>
          <a:bodyPr>
            <a:normAutofit fontScale="62500" lnSpcReduction="20000"/>
          </a:bodyPr>
          <a:lstStyle/>
          <a:p>
            <a:pPr algn="l"/>
            <a:r>
              <a:rPr lang="en-US" sz="4500" b="1" dirty="0"/>
              <a:t>Group member </a:t>
            </a:r>
            <a:br>
              <a:rPr lang="en-US" sz="3800" dirty="0"/>
            </a:br>
            <a:r>
              <a:rPr lang="en-US" sz="3800" dirty="0"/>
              <a:t> Belal emad</a:t>
            </a:r>
            <a:br>
              <a:rPr lang="en-US" sz="3800" dirty="0"/>
            </a:br>
            <a:r>
              <a:rPr lang="en-US" sz="3800" dirty="0"/>
              <a:t>   </a:t>
            </a:r>
            <a:r>
              <a:rPr lang="en-US" sz="3800" dirty="0" err="1"/>
              <a:t>ESSam</a:t>
            </a:r>
            <a:r>
              <a:rPr lang="en-US" sz="3800" dirty="0"/>
              <a:t> </a:t>
            </a:r>
            <a:r>
              <a:rPr lang="en-US" sz="3800" dirty="0" err="1"/>
              <a:t>abu</a:t>
            </a:r>
            <a:r>
              <a:rPr lang="en-US" sz="3800" dirty="0"/>
              <a:t> </a:t>
            </a:r>
            <a:r>
              <a:rPr lang="en-US" sz="3800" dirty="0" err="1"/>
              <a:t>almagd</a:t>
            </a:r>
            <a:br>
              <a:rPr lang="en-US" sz="3800" dirty="0"/>
            </a:br>
            <a:r>
              <a:rPr lang="en-US" sz="3800" dirty="0"/>
              <a:t>         Mostafa mohamed </a:t>
            </a:r>
            <a:br>
              <a:rPr lang="en-US" sz="3800" dirty="0"/>
            </a:br>
            <a:r>
              <a:rPr lang="en-US" sz="3800" dirty="0"/>
              <a:t>           Bakr   </a:t>
            </a:r>
            <a:r>
              <a:rPr lang="en-US" sz="3800" dirty="0" err="1"/>
              <a:t>ahmed</a:t>
            </a:r>
            <a:br>
              <a:rPr lang="en-US" sz="3800" dirty="0"/>
            </a:br>
            <a:br>
              <a:rPr lang="en-US" sz="3800" dirty="0"/>
            </a:br>
            <a:endParaRPr lang="en-US" sz="3800" dirty="0"/>
          </a:p>
        </p:txBody>
      </p:sp>
    </p:spTree>
    <p:extLst>
      <p:ext uri="{BB962C8B-B14F-4D97-AF65-F5344CB8AC3E}">
        <p14:creationId xmlns:p14="http://schemas.microsoft.com/office/powerpoint/2010/main" val="1316730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72650-389D-19FD-3D37-280FF31F4F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-analysis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84B0FE-C15E-9497-89FA-58350CE3A88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80447" y="1844298"/>
            <a:ext cx="10797153" cy="3946901"/>
          </a:xfrm>
        </p:spPr>
        <p:txBody>
          <a:bodyPr/>
          <a:lstStyle/>
          <a:p>
            <a:r>
              <a:rPr lang="en-US" dirty="0"/>
              <a:t> 9/30/2025  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10/20/2025                                                           deadline by </a:t>
            </a:r>
            <a:r>
              <a:rPr lang="en-US" dirty="0" err="1"/>
              <a:t>depi</a:t>
            </a:r>
            <a:r>
              <a:rPr lang="en-US" dirty="0"/>
              <a:t> </a:t>
            </a:r>
            <a:r>
              <a:rPr lang="en-US" dirty="0" err="1"/>
              <a:t>instractors</a:t>
            </a:r>
            <a:r>
              <a:rPr lang="en-US" dirty="0"/>
              <a:t>    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B172202-C83B-924D-0891-98D61086D123}"/>
              </a:ext>
            </a:extLst>
          </p:cNvPr>
          <p:cNvSpPr/>
          <p:nvPr/>
        </p:nvSpPr>
        <p:spPr>
          <a:xfrm>
            <a:off x="1683427" y="2350752"/>
            <a:ext cx="4195596" cy="9159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Cleaning data </a:t>
            </a:r>
            <a:b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modelling &amp; load data</a:t>
            </a:r>
            <a:b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choose a suitable design for report</a:t>
            </a:r>
          </a:p>
        </p:txBody>
      </p:sp>
      <p:pic>
        <p:nvPicPr>
          <p:cNvPr id="6" name="Graphic 5" descr="Bullseye">
            <a:extLst>
              <a:ext uri="{FF2B5EF4-FFF2-40B4-BE49-F238E27FC236}">
                <a16:creationId xmlns:a16="http://schemas.microsoft.com/office/drawing/2014/main" id="{FE45361D-1BE6-3A9A-53B1-699322DBC5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34366" y="2350752"/>
            <a:ext cx="468675" cy="468675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FA82BD8A-5C62-86B8-F12F-AD32D8632D30}"/>
              </a:ext>
            </a:extLst>
          </p:cNvPr>
          <p:cNvSpPr/>
          <p:nvPr/>
        </p:nvSpPr>
        <p:spPr>
          <a:xfrm>
            <a:off x="1683427" y="4070975"/>
            <a:ext cx="4195596" cy="9159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  <a:t>Feed back of all group member</a:t>
            </a:r>
            <a:br>
              <a:rPr lang="en-US" dirty="0">
                <a:solidFill>
                  <a:schemeClr val="tx1">
                    <a:lumMod val="95000"/>
                    <a:lumOff val="5000"/>
                  </a:schemeClr>
                </a:solidFill>
              </a:rPr>
            </a:b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continue analysis </a:t>
            </a:r>
            <a:r>
              <a:rPr lang="en-US" sz="2000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kpis</a:t>
            </a:r>
            <a:r>
              <a:rPr lang="en-US" sz="2000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8E048D2-DB28-96EE-BD1D-7C393DC8C0C0}"/>
              </a:ext>
            </a:extLst>
          </p:cNvPr>
          <p:cNvSpPr/>
          <p:nvPr/>
        </p:nvSpPr>
        <p:spPr>
          <a:xfrm>
            <a:off x="6912666" y="3817748"/>
            <a:ext cx="4195596" cy="915964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809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663B72-0DD8-AC17-0226-58038EDE8C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91" y="-204329"/>
            <a:ext cx="10364451" cy="914400"/>
          </a:xfrm>
        </p:spPr>
        <p:txBody>
          <a:bodyPr/>
          <a:lstStyle/>
          <a:p>
            <a:r>
              <a:rPr lang="en-US" dirty="0"/>
              <a:t>Work </a:t>
            </a:r>
            <a:r>
              <a:rPr lang="en-US" dirty="0" err="1"/>
              <a:t>Distribuition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418C93-0DE5-BC08-565D-D54444D3C2A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66291" y="894738"/>
            <a:ext cx="4818432" cy="27825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Belal </a:t>
            </a:r>
            <a:r>
              <a:rPr lang="en-US" dirty="0" err="1"/>
              <a:t>emad</a:t>
            </a:r>
            <a:br>
              <a:rPr lang="en-US" dirty="0"/>
            </a:br>
            <a:r>
              <a:rPr lang="en-US" b="1" dirty="0"/>
              <a:t>Belal Emad: Project Manager &amp; Data Coordinator</a:t>
            </a:r>
            <a:endParaRPr lang="en-US" dirty="0"/>
          </a:p>
          <a:p>
            <a:pPr lvl="1"/>
            <a:r>
              <a:rPr lang="en-US" dirty="0"/>
              <a:t>Define final project scope and objectives</a:t>
            </a:r>
          </a:p>
          <a:p>
            <a:pPr lvl="1"/>
            <a:r>
              <a:rPr lang="en-US" dirty="0"/>
              <a:t>Create a master list of all data sources (17+ tables from HMS)</a:t>
            </a:r>
          </a:p>
          <a:p>
            <a:pPr lvl="1"/>
            <a:r>
              <a:rPr lang="en-US" dirty="0"/>
              <a:t>Coordinate data extraction from different sources</a:t>
            </a:r>
          </a:p>
          <a:p>
            <a:pPr lvl="1"/>
            <a:r>
              <a:rPr lang="en-US" dirty="0"/>
              <a:t>Set up project timeline and milestones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7491CE-FF60-C355-55E0-D5414A75C4B8}"/>
              </a:ext>
            </a:extLst>
          </p:cNvPr>
          <p:cNvSpPr txBox="1"/>
          <p:nvPr/>
        </p:nvSpPr>
        <p:spPr>
          <a:xfrm>
            <a:off x="3686784" y="525405"/>
            <a:ext cx="48184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Phase 1: Project Setup &amp; Data Gathering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2B252B01-7BC5-0AAA-7985-B9C13A07D32E}"/>
              </a:ext>
            </a:extLst>
          </p:cNvPr>
          <p:cNvSpPr txBox="1">
            <a:spLocks/>
          </p:cNvSpPr>
          <p:nvPr/>
        </p:nvSpPr>
        <p:spPr>
          <a:xfrm>
            <a:off x="6385427" y="894736"/>
            <a:ext cx="4818432" cy="27825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/>
              <a:t>ESSam</a:t>
            </a:r>
            <a:r>
              <a:rPr lang="en-US" b="1" dirty="0"/>
              <a:t> Abu </a:t>
            </a:r>
            <a:r>
              <a:rPr lang="en-US" b="1" dirty="0" err="1"/>
              <a:t>Almagd</a:t>
            </a:r>
            <a:r>
              <a:rPr lang="en-US" b="1" dirty="0"/>
              <a:t>: Technical Lead</a:t>
            </a:r>
            <a:endParaRPr lang="en-US" dirty="0"/>
          </a:p>
          <a:p>
            <a:pPr lvl="1"/>
            <a:r>
              <a:rPr lang="en-US" dirty="0"/>
              <a:t>Assess data quality and completeness</a:t>
            </a:r>
          </a:p>
          <a:p>
            <a:pPr lvl="1"/>
            <a:r>
              <a:rPr lang="en-US" dirty="0"/>
              <a:t>Identify potential data integration challenges</a:t>
            </a:r>
          </a:p>
          <a:p>
            <a:pPr lvl="1"/>
            <a:r>
              <a:rPr lang="en-US" dirty="0"/>
              <a:t>Set up the Power BI project structure</a:t>
            </a:r>
          </a:p>
          <a:p>
            <a:pPr lvl="1"/>
            <a:r>
              <a:rPr lang="en-US" dirty="0"/>
              <a:t>Create the initial data model skeleton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FBF84B2-AB0D-921E-6E8A-B827B39A073E}"/>
              </a:ext>
            </a:extLst>
          </p:cNvPr>
          <p:cNvSpPr txBox="1">
            <a:spLocks/>
          </p:cNvSpPr>
          <p:nvPr/>
        </p:nvSpPr>
        <p:spPr>
          <a:xfrm>
            <a:off x="988142" y="3780503"/>
            <a:ext cx="4818432" cy="3077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Bakr </a:t>
            </a:r>
            <a:r>
              <a:rPr lang="en-US" b="1" dirty="0" err="1"/>
              <a:t>ahmed</a:t>
            </a:r>
            <a:r>
              <a:rPr lang="en-US" b="1" dirty="0"/>
              <a:t>: Data Analyst</a:t>
            </a:r>
            <a:endParaRPr lang="en-US" dirty="0"/>
          </a:p>
          <a:p>
            <a:pPr lvl="1"/>
            <a:r>
              <a:rPr lang="en-US" dirty="0"/>
              <a:t>Gather requirements for KPIs and visualizations</a:t>
            </a:r>
          </a:p>
          <a:p>
            <a:pPr lvl="1"/>
            <a:r>
              <a:rPr lang="en-US" dirty="0"/>
              <a:t>Document business questions for each department</a:t>
            </a:r>
          </a:p>
          <a:p>
            <a:pPr lvl="1"/>
            <a:r>
              <a:rPr lang="en-US" dirty="0"/>
              <a:t>Identify key metrics and calculation logic</a:t>
            </a:r>
          </a:p>
          <a:p>
            <a:pPr lvl="1"/>
            <a:r>
              <a:rPr lang="en-US" dirty="0"/>
              <a:t>Create a mockup of desired dashboard layout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E16F8E66-C16B-4B84-BFBC-42F57CB06B2C}"/>
              </a:ext>
            </a:extLst>
          </p:cNvPr>
          <p:cNvSpPr txBox="1">
            <a:spLocks/>
          </p:cNvSpPr>
          <p:nvPr/>
        </p:nvSpPr>
        <p:spPr>
          <a:xfrm>
            <a:off x="6548284" y="3780503"/>
            <a:ext cx="4818432" cy="307749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Mostafa </a:t>
            </a:r>
            <a:r>
              <a:rPr lang="en-US" b="1" dirty="0" err="1"/>
              <a:t>moahmed</a:t>
            </a:r>
            <a:r>
              <a:rPr lang="en-US" b="1" dirty="0"/>
              <a:t>: Quality Assurance</a:t>
            </a:r>
            <a:endParaRPr lang="en-US" dirty="0"/>
          </a:p>
          <a:p>
            <a:pPr lvl="1"/>
            <a:r>
              <a:rPr lang="en-US" dirty="0"/>
              <a:t>Verify data accessibility and permissions</a:t>
            </a:r>
          </a:p>
          <a:p>
            <a:pPr lvl="1"/>
            <a:r>
              <a:rPr lang="en-US" dirty="0"/>
              <a:t>Create data validation checklist</a:t>
            </a:r>
          </a:p>
          <a:p>
            <a:pPr lvl="1"/>
            <a:r>
              <a:rPr lang="en-US" dirty="0"/>
              <a:t>Document potential data quality issues</a:t>
            </a:r>
          </a:p>
          <a:p>
            <a:pPr lvl="1"/>
            <a:r>
              <a:rPr lang="en-US" dirty="0"/>
              <a:t>Set up testing scenarios for later phases</a:t>
            </a:r>
          </a:p>
        </p:txBody>
      </p:sp>
    </p:spTree>
    <p:extLst>
      <p:ext uri="{BB962C8B-B14F-4D97-AF65-F5344CB8AC3E}">
        <p14:creationId xmlns:p14="http://schemas.microsoft.com/office/powerpoint/2010/main" val="9876548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455049-D7EA-9EC6-D9B2-AE166FB8FC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0171B-D990-23B1-81F6-3DD1C0854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6291" y="-204329"/>
            <a:ext cx="10364451" cy="914400"/>
          </a:xfrm>
        </p:spPr>
        <p:txBody>
          <a:bodyPr/>
          <a:lstStyle/>
          <a:p>
            <a:r>
              <a:rPr lang="en-US" dirty="0"/>
              <a:t>Work </a:t>
            </a:r>
            <a:r>
              <a:rPr lang="en-US" dirty="0" err="1"/>
              <a:t>Distribuition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CD1624-4A82-FB39-A95E-73E03581B61B}"/>
              </a:ext>
            </a:extLst>
          </p:cNvPr>
          <p:cNvSpPr txBox="1"/>
          <p:nvPr/>
        </p:nvSpPr>
        <p:spPr>
          <a:xfrm>
            <a:off x="3775274" y="525405"/>
            <a:ext cx="39430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Phase 2: Data Cleaning &amp; Preparation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6095B2A-A096-6F49-58F1-21890B1D9358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913774" y="1111045"/>
            <a:ext cx="4690613" cy="2317956"/>
          </a:xfrm>
        </p:spPr>
        <p:txBody>
          <a:bodyPr>
            <a:normAutofit fontScale="85000" lnSpcReduction="20000"/>
          </a:bodyPr>
          <a:lstStyle/>
          <a:p>
            <a:r>
              <a:rPr lang="en-US" b="1" dirty="0"/>
              <a:t>Belal Emad: Data Quality Lead</a:t>
            </a:r>
            <a:endParaRPr lang="en-US" dirty="0"/>
          </a:p>
          <a:p>
            <a:r>
              <a:rPr lang="en-US" dirty="0"/>
              <a:t>Standardize date formats across all tables</a:t>
            </a:r>
          </a:p>
          <a:p>
            <a:r>
              <a:rPr lang="en-US" dirty="0"/>
              <a:t>Clean patient and doctor names (remove duplicates, standardize formats)</a:t>
            </a:r>
          </a:p>
          <a:p>
            <a:r>
              <a:rPr lang="en-US" dirty="0"/>
              <a:t>Handle missing values in critical fields (appointment status, fees, etc.)</a:t>
            </a:r>
          </a:p>
          <a:p>
            <a:endParaRPr lang="en-US" dirty="0"/>
          </a:p>
        </p:txBody>
      </p:sp>
      <p:sp>
        <p:nvSpPr>
          <p:cNvPr id="10" name="Content Placeholder 6">
            <a:extLst>
              <a:ext uri="{FF2B5EF4-FFF2-40B4-BE49-F238E27FC236}">
                <a16:creationId xmlns:a16="http://schemas.microsoft.com/office/drawing/2014/main" id="{F9FB08E8-8C19-EA49-ECB3-7A87A063C527}"/>
              </a:ext>
            </a:extLst>
          </p:cNvPr>
          <p:cNvSpPr txBox="1">
            <a:spLocks/>
          </p:cNvSpPr>
          <p:nvPr/>
        </p:nvSpPr>
        <p:spPr>
          <a:xfrm>
            <a:off x="7034980" y="3797708"/>
            <a:ext cx="4690613" cy="23179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Bakr Ahmed: Testing &amp; Documentation</a:t>
            </a:r>
            <a:endParaRPr lang="en-US" dirty="0"/>
          </a:p>
          <a:p>
            <a:pPr lvl="1"/>
            <a:r>
              <a:rPr lang="en-US" dirty="0"/>
              <a:t>Test data cleaning scripts and procedures</a:t>
            </a:r>
          </a:p>
          <a:p>
            <a:pPr lvl="1"/>
            <a:r>
              <a:rPr lang="en-US" dirty="0"/>
              <a:t>Validate data relationships and integrity</a:t>
            </a:r>
          </a:p>
          <a:p>
            <a:endParaRPr lang="en-US" dirty="0"/>
          </a:p>
        </p:txBody>
      </p:sp>
      <p:sp>
        <p:nvSpPr>
          <p:cNvPr id="11" name="Content Placeholder 6">
            <a:extLst>
              <a:ext uri="{FF2B5EF4-FFF2-40B4-BE49-F238E27FC236}">
                <a16:creationId xmlns:a16="http://schemas.microsoft.com/office/drawing/2014/main" id="{DABB8427-6292-922A-3CE3-6C75CD3833CA}"/>
              </a:ext>
            </a:extLst>
          </p:cNvPr>
          <p:cNvSpPr txBox="1">
            <a:spLocks/>
          </p:cNvSpPr>
          <p:nvPr/>
        </p:nvSpPr>
        <p:spPr>
          <a:xfrm>
            <a:off x="913773" y="4014639"/>
            <a:ext cx="4690613" cy="23179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/>
              <a:t>Mostafa Mohamed: Data Validation Analyst</a:t>
            </a:r>
            <a:endParaRPr lang="en-US" dirty="0"/>
          </a:p>
          <a:p>
            <a:pPr lvl="1"/>
            <a:r>
              <a:rPr lang="en-US" dirty="0"/>
              <a:t>Validate cleaned data against source systems</a:t>
            </a:r>
          </a:p>
          <a:p>
            <a:pPr lvl="1"/>
            <a:r>
              <a:rPr lang="en-US" dirty="0"/>
              <a:t>Check for consistency across related tables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Content Placeholder 6">
            <a:extLst>
              <a:ext uri="{FF2B5EF4-FFF2-40B4-BE49-F238E27FC236}">
                <a16:creationId xmlns:a16="http://schemas.microsoft.com/office/drawing/2014/main" id="{A5C8A186-49FE-C566-6E83-6DF4AF965136}"/>
              </a:ext>
            </a:extLst>
          </p:cNvPr>
          <p:cNvSpPr txBox="1">
            <a:spLocks/>
          </p:cNvSpPr>
          <p:nvPr/>
        </p:nvSpPr>
        <p:spPr>
          <a:xfrm>
            <a:off x="7034980" y="1111045"/>
            <a:ext cx="4852220" cy="14650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20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8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6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Clr>
                <a:schemeClr val="tx1"/>
              </a:buClr>
              <a:buFont typeface="Arial" panose="020B0604020202020204" pitchFamily="34" charset="0"/>
              <a:buChar char="•"/>
              <a:defRPr sz="1400" kern="1200" cap="all" baseline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err="1"/>
              <a:t>ESSam</a:t>
            </a:r>
            <a:r>
              <a:rPr lang="en-US" b="1" dirty="0"/>
              <a:t> Abu </a:t>
            </a:r>
            <a:r>
              <a:rPr lang="en-US" b="1" dirty="0" err="1"/>
              <a:t>Almagd</a:t>
            </a:r>
            <a:r>
              <a:rPr lang="en-US" b="1" dirty="0"/>
              <a:t>: </a:t>
            </a:r>
          </a:p>
          <a:p>
            <a:pPr lvl="1"/>
            <a:r>
              <a:rPr lang="en-US" dirty="0"/>
              <a:t>Handle data type conversions and formatting</a:t>
            </a:r>
          </a:p>
        </p:txBody>
      </p:sp>
    </p:spTree>
    <p:extLst>
      <p:ext uri="{BB962C8B-B14F-4D97-AF65-F5344CB8AC3E}">
        <p14:creationId xmlns:p14="http://schemas.microsoft.com/office/powerpoint/2010/main" val="2147870726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44</TotalTime>
  <Words>292</Words>
  <Application>Microsoft Office PowerPoint</Application>
  <PresentationFormat>Widescreen</PresentationFormat>
  <Paragraphs>42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Tw Cen MT</vt:lpstr>
      <vt:lpstr>Droplet</vt:lpstr>
      <vt:lpstr> caduceus-one-hospital</vt:lpstr>
      <vt:lpstr>Timeline -analysis</vt:lpstr>
      <vt:lpstr>Work Distribuition</vt:lpstr>
      <vt:lpstr>Work Distribuition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belal emad mohamed fekry</dc:creator>
  <cp:lastModifiedBy>Bakr Eltabbal</cp:lastModifiedBy>
  <cp:revision>2</cp:revision>
  <dcterms:created xsi:type="dcterms:W3CDTF">2025-09-24T18:13:30Z</dcterms:created>
  <dcterms:modified xsi:type="dcterms:W3CDTF">2025-09-24T22:58:09Z</dcterms:modified>
</cp:coreProperties>
</file>